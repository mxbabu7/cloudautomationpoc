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AI-Powered Presales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Sales Enablement with Intelligent Agents</a:t>
            </a:r>
          </a:p>
          <a:p/>
          <a:p>
            <a:r>
              <a:t>4 Proof of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Executive Summary: 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Presales teams spend 70% of time on repetitive tasks</a:t>
            </a:r>
          </a:p>
          <a:p>
            <a:pPr>
              <a:spcBef>
                <a:spcPts val="1000"/>
              </a:spcBef>
              <a:defRPr sz="1800"/>
            </a:pPr>
            <a:r>
              <a:t>Infrastructure design takes 2-3 weeks for complex solutions</a:t>
            </a:r>
          </a:p>
          <a:p>
            <a:pPr>
              <a:spcBef>
                <a:spcPts val="1000"/>
              </a:spcBef>
              <a:defRPr sz="1800"/>
            </a:pPr>
            <a:r>
              <a:t>Demo preparation requires 8-10 hours per customization</a:t>
            </a:r>
          </a:p>
          <a:p>
            <a:pPr>
              <a:spcBef>
                <a:spcPts val="1000"/>
              </a:spcBef>
              <a:defRPr sz="1800"/>
            </a:pPr>
            <a:r>
              <a:t>Competitive intelligence is often outdated by deal time</a:t>
            </a:r>
          </a:p>
          <a:p>
            <a:pPr>
              <a:spcBef>
                <a:spcPts val="1000"/>
              </a:spcBef>
              <a:defRPr sz="1800"/>
            </a:pPr>
            <a:r>
              <a:t>TCO/ROI calculations are manual and inconsistent</a:t>
            </a:r>
          </a:p>
          <a:p>
            <a:pPr>
              <a:spcBef>
                <a:spcPts val="1000"/>
              </a:spcBef>
              <a:defRPr sz="1800"/>
            </a:pPr>
            <a:r>
              <a:t>Result: Lost deals, longer sales cycles, higher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Our Solution: AI-Powered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4 Intelligent Agents that automate presales workflows</a:t>
            </a:r>
          </a:p>
          <a:p>
            <a:pPr>
              <a:spcBef>
                <a:spcPts val="1000"/>
              </a:spcBef>
              <a:defRPr sz="1800"/>
            </a:pPr>
            <a:r>
              <a:t>Reduce infrastructure design time from weeks to minutes</a:t>
            </a:r>
          </a:p>
          <a:p>
            <a:pPr>
              <a:spcBef>
                <a:spcPts val="1000"/>
              </a:spcBef>
              <a:defRPr sz="1800"/>
            </a:pPr>
            <a:r>
              <a:t>Generate customized demos in seconds, not hours</a:t>
            </a:r>
          </a:p>
          <a:p>
            <a:pPr>
              <a:spcBef>
                <a:spcPts val="1000"/>
              </a:spcBef>
              <a:defRPr sz="1800"/>
            </a:pPr>
            <a:r>
              <a:t>Real-time competitive intelligence and battle cards</a:t>
            </a:r>
          </a:p>
          <a:p>
            <a:pPr>
              <a:spcBef>
                <a:spcPts val="1000"/>
              </a:spcBef>
              <a:defRPr sz="1800"/>
            </a:pPr>
            <a:r>
              <a:t>Instant TCO/ROI analysis with carbon impact</a:t>
            </a:r>
          </a:p>
          <a:p>
            <a:pPr>
              <a:spcBef>
                <a:spcPts val="1000"/>
              </a:spcBef>
              <a:defRPr sz="1800"/>
            </a:pPr>
            <a:r>
              <a:t>Result: 80% time savings, faster deal cycles, higher win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POC 1: Autonomous Infrastructure Design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🎯 Business Challenge</a:t>
            </a:r>
          </a:p>
          <a:p>
            <a:pPr>
              <a:spcBef>
                <a:spcPts val="800"/>
              </a:spcBef>
              <a:defRPr sz="1600"/>
            </a:pPr>
            <a:r>
              <a:t>• Manual design takes 2-3 weeks</a:t>
            </a:r>
          </a:p>
          <a:p>
            <a:pPr>
              <a:spcBef>
                <a:spcPts val="800"/>
              </a:spcBef>
              <a:defRPr sz="1600"/>
            </a:pPr>
            <a:r>
              <a:t>• Compliance checks are inconsistent</a:t>
            </a:r>
          </a:p>
          <a:p>
            <a:pPr>
              <a:spcBef>
                <a:spcPts val="800"/>
              </a:spcBef>
              <a:defRPr sz="1600"/>
            </a:pPr>
            <a:r>
              <a:t>• Requirements often missed</a:t>
            </a:r>
          </a:p>
          <a:p>
            <a:pPr>
              <a:spcBef>
                <a:spcPts val="800"/>
              </a:spcBef>
              <a:defRPr sz="1600"/>
            </a:pPr>
            <a:r>
              <a:t>• No standardization across team</a:t>
            </a:r>
          </a:p>
          <a:p>
            <a:pPr>
              <a:spcBef>
                <a:spcPts val="800"/>
              </a:spcBef>
              <a:defRPr sz="1600"/>
            </a:pPr>
            <a:r>
              <a:t>• Security gaps discovered late</a:t>
            </a:r>
          </a:p>
          <a:p>
            <a:pPr>
              <a:spcBef>
                <a:spcPts val="800"/>
              </a:spcBef>
              <a:defRPr sz="1600"/>
            </a:pPr>
            <a:r>
              <a:t>• Cost: $50K-$100K per 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✅ AI Solution &amp; Outcomes</a:t>
            </a:r>
          </a:p>
          <a:p>
            <a:pPr>
              <a:spcBef>
                <a:spcPts val="800"/>
              </a:spcBef>
              <a:defRPr sz="1600"/>
            </a:pPr>
            <a:r>
              <a:t>• Automated design in 5-10 minutes</a:t>
            </a:r>
          </a:p>
          <a:p>
            <a:pPr>
              <a:spcBef>
                <a:spcPts val="800"/>
              </a:spcBef>
              <a:defRPr sz="1600"/>
            </a:pPr>
            <a:r>
              <a:t>• Real-time compliance validation (NIST, GDPR, HIPAA, FedRAMP)</a:t>
            </a:r>
          </a:p>
          <a:p>
            <a:pPr>
              <a:spcBef>
                <a:spcPts val="800"/>
              </a:spcBef>
              <a:defRPr sz="1600"/>
            </a:pPr>
            <a:r>
              <a:t>• Auto-generates IaC code (CDK, Ansible)</a:t>
            </a:r>
          </a:p>
          <a:p>
            <a:pPr>
              <a:spcBef>
                <a:spcPts val="800"/>
              </a:spcBef>
              <a:defRPr sz="1600"/>
            </a:pPr>
            <a:r>
              <a:t>• 99% compliance accuracy</a:t>
            </a:r>
          </a:p>
          <a:p>
            <a:pPr>
              <a:spcBef>
                <a:spcPts val="800"/>
              </a:spcBef>
              <a:defRPr sz="1600"/>
            </a:pPr>
            <a:r>
              <a:t>• Risk assessment &amp; remediation</a:t>
            </a:r>
          </a:p>
          <a:p>
            <a:pPr>
              <a:spcBef>
                <a:spcPts val="800"/>
              </a:spcBef>
              <a:defRPr sz="1600"/>
            </a:pPr>
            <a:r>
              <a:t>• ROI: 95% time savings = $950K/year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POC 1: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Input: Customer requirements (workload, industry, compliance needs)</a:t>
            </a:r>
          </a:p>
          <a:p>
            <a:pPr>
              <a:spcBef>
                <a:spcPts val="1000"/>
              </a:spcBef>
              <a:defRPr sz="1800"/>
            </a:pPr>
            <a:r>
              <a:t>AI Agent analyzes requirements and best practices</a:t>
            </a:r>
          </a:p>
          <a:p>
            <a:pPr>
              <a:spcBef>
                <a:spcPts val="1000"/>
              </a:spcBef>
              <a:defRPr sz="1800"/>
            </a:pPr>
            <a:r>
              <a:t>Generates complete architecture (compute, network, storage, security)</a:t>
            </a:r>
          </a:p>
          <a:p>
            <a:pPr>
              <a:spcBef>
                <a:spcPts val="1000"/>
              </a:spcBef>
              <a:defRPr sz="1800"/>
            </a:pPr>
            <a:r>
              <a:t>Validates against compliance frameworks automatically</a:t>
            </a:r>
          </a:p>
          <a:p>
            <a:pPr>
              <a:spcBef>
                <a:spcPts val="1000"/>
              </a:spcBef>
              <a:defRPr sz="1800"/>
            </a:pPr>
            <a:r>
              <a:t>Outputs: Architecture YAML, IaC templates, security assessment</a:t>
            </a:r>
          </a:p>
          <a:p>
            <a:pPr>
              <a:spcBef>
                <a:spcPts val="1000"/>
              </a:spcBef>
              <a:defRPr sz="1800"/>
            </a:pPr>
            <a:r>
              <a:t>Technology: OpenAI GPT-4, LangChain, CrewAI multi-agent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POC 2: AI-Powered Demo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🎯 Business Challenge</a:t>
            </a:r>
          </a:p>
          <a:p>
            <a:pPr>
              <a:spcBef>
                <a:spcPts val="800"/>
              </a:spcBef>
              <a:defRPr sz="1600"/>
            </a:pPr>
            <a:r>
              <a:t>• Demo prep: 8-10 hours per customer</a:t>
            </a:r>
          </a:p>
          <a:p>
            <a:pPr>
              <a:spcBef>
                <a:spcPts val="800"/>
              </a:spcBef>
              <a:defRPr sz="1600"/>
            </a:pPr>
            <a:r>
              <a:t>• Generic demos don't resonate</a:t>
            </a:r>
          </a:p>
          <a:p>
            <a:pPr>
              <a:spcBef>
                <a:spcPts val="800"/>
              </a:spcBef>
              <a:defRPr sz="1600"/>
            </a:pPr>
            <a:r>
              <a:t>• Can't adapt to different personas</a:t>
            </a:r>
          </a:p>
          <a:p>
            <a:pPr>
              <a:spcBef>
                <a:spcPts val="800"/>
              </a:spcBef>
              <a:defRPr sz="1600"/>
            </a:pPr>
            <a:r>
              <a:t>• Environment setup is complex</a:t>
            </a:r>
          </a:p>
          <a:p>
            <a:pPr>
              <a:spcBef>
                <a:spcPts val="800"/>
              </a:spcBef>
              <a:defRPr sz="1600"/>
            </a:pPr>
            <a:r>
              <a:t>• Demo failures damage credibility</a:t>
            </a:r>
          </a:p>
          <a:p>
            <a:pPr>
              <a:spcBef>
                <a:spcPts val="800"/>
              </a:spcBef>
              <a:defRPr sz="1600"/>
            </a:pPr>
            <a:r>
              <a:t>• Cost: $30K-$40K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✅ AI Solution &amp; Outcomes</a:t>
            </a:r>
          </a:p>
          <a:p>
            <a:pPr>
              <a:spcBef>
                <a:spcPts val="800"/>
              </a:spcBef>
              <a:defRPr sz="1600"/>
            </a:pPr>
            <a:r>
              <a:t>• Persona-aware customization in seconds</a:t>
            </a:r>
          </a:p>
          <a:p>
            <a:pPr>
              <a:spcBef>
                <a:spcPts val="800"/>
              </a:spcBef>
              <a:defRPr sz="1600"/>
            </a:pPr>
            <a:r>
              <a:t>• Auto-adapts to role (CTO, CFO, DevOps)</a:t>
            </a:r>
          </a:p>
          <a:p>
            <a:pPr>
              <a:spcBef>
                <a:spcPts val="800"/>
              </a:spcBef>
              <a:defRPr sz="1600"/>
            </a:pPr>
            <a:r>
              <a:t>• Intelligent scenario selection</a:t>
            </a:r>
          </a:p>
          <a:p>
            <a:pPr>
              <a:spcBef>
                <a:spcPts val="800"/>
              </a:spcBef>
              <a:defRPr sz="1600"/>
            </a:pPr>
            <a:r>
              <a:t>• Interactive guided workflows</a:t>
            </a:r>
          </a:p>
          <a:p>
            <a:pPr>
              <a:spcBef>
                <a:spcPts val="800"/>
              </a:spcBef>
              <a:defRPr sz="1600"/>
            </a:pPr>
            <a:r>
              <a:t>• Self-healing demo environments</a:t>
            </a:r>
          </a:p>
          <a:p>
            <a:pPr>
              <a:spcBef>
                <a:spcPts val="800"/>
              </a:spcBef>
              <a:defRPr sz="1600"/>
            </a:pPr>
            <a:r>
              <a:t>• ROI: 85% time savings = $300K/year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POC 2: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Input: Customer persona, industry, pain points</a:t>
            </a:r>
          </a:p>
          <a:p>
            <a:pPr>
              <a:spcBef>
                <a:spcPts val="1000"/>
              </a:spcBef>
              <a:defRPr sz="1800"/>
            </a:pPr>
            <a:r>
              <a:t>AI selects relevant scenarios from library</a:t>
            </a:r>
          </a:p>
          <a:p>
            <a:pPr>
              <a:spcBef>
                <a:spcPts val="1000"/>
              </a:spcBef>
              <a:defRPr sz="1800"/>
            </a:pPr>
            <a:r>
              <a:t>Generates customized demo script and talking points</a:t>
            </a:r>
          </a:p>
          <a:p>
            <a:pPr>
              <a:spcBef>
                <a:spcPts val="1000"/>
              </a:spcBef>
              <a:defRPr sz="1800"/>
            </a:pPr>
            <a:r>
              <a:t>Creates interactive guide with branching logic</a:t>
            </a:r>
          </a:p>
          <a:p>
            <a:pPr>
              <a:spcBef>
                <a:spcPts val="1000"/>
              </a:spcBef>
              <a:defRPr sz="1800"/>
            </a:pPr>
            <a:r>
              <a:t>Monitors demo health and auto-recovers from issues</a:t>
            </a:r>
          </a:p>
          <a:p>
            <a:pPr>
              <a:spcBef>
                <a:spcPts val="1000"/>
              </a:spcBef>
              <a:defRPr sz="1800"/>
            </a:pPr>
            <a:r>
              <a:t>Outcome: Personalized, failure-proof demos every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POC 3: Dynamic TCO/ROI Simulation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🎯 Business Challenge</a:t>
            </a:r>
          </a:p>
          <a:p>
            <a:pPr>
              <a:spcBef>
                <a:spcPts val="800"/>
              </a:spcBef>
              <a:defRPr sz="1600"/>
            </a:pPr>
            <a:r>
              <a:t>• Manual TCO takes 3-5 days</a:t>
            </a:r>
          </a:p>
          <a:p>
            <a:pPr>
              <a:spcBef>
                <a:spcPts val="800"/>
              </a:spcBef>
              <a:defRPr sz="1600"/>
            </a:pPr>
            <a:r>
              <a:t>• Calculations inconsistent</a:t>
            </a:r>
          </a:p>
          <a:p>
            <a:pPr>
              <a:spcBef>
                <a:spcPts val="800"/>
              </a:spcBef>
              <a:defRPr sz="1600"/>
            </a:pPr>
            <a:r>
              <a:t>• Hidden costs often missed</a:t>
            </a:r>
          </a:p>
          <a:p>
            <a:pPr>
              <a:spcBef>
                <a:spcPts val="800"/>
              </a:spcBef>
              <a:defRPr sz="1600"/>
            </a:pPr>
            <a:r>
              <a:t>• No carbon impact analysis</a:t>
            </a:r>
          </a:p>
          <a:p>
            <a:pPr>
              <a:spcBef>
                <a:spcPts val="800"/>
              </a:spcBef>
              <a:defRPr sz="1600"/>
            </a:pPr>
            <a:r>
              <a:t>• Static, not adaptable</a:t>
            </a:r>
          </a:p>
          <a:p>
            <a:pPr>
              <a:spcBef>
                <a:spcPts val="800"/>
              </a:spcBef>
              <a:defRPr sz="1600"/>
            </a:pPr>
            <a:r>
              <a:t>• Cost: $25K per complex 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✅ AI Solution &amp; Outcomes</a:t>
            </a:r>
          </a:p>
          <a:p>
            <a:pPr>
              <a:spcBef>
                <a:spcPts val="800"/>
              </a:spcBef>
              <a:defRPr sz="1600"/>
            </a:pPr>
            <a:r>
              <a:t>• Instant TCO/ROI in seconds</a:t>
            </a:r>
          </a:p>
          <a:p>
            <a:pPr>
              <a:spcBef>
                <a:spcPts val="800"/>
              </a:spcBef>
              <a:defRPr sz="1600"/>
            </a:pPr>
            <a:r>
              <a:t>• Real-time cost breakdown</a:t>
            </a:r>
          </a:p>
          <a:p>
            <a:pPr>
              <a:spcBef>
                <a:spcPts val="800"/>
              </a:spcBef>
              <a:defRPr sz="1600"/>
            </a:pPr>
            <a:r>
              <a:t>• Carbon footprint analysis</a:t>
            </a:r>
          </a:p>
          <a:p>
            <a:pPr>
              <a:spcBef>
                <a:spcPts val="800"/>
              </a:spcBef>
              <a:defRPr sz="1600"/>
            </a:pPr>
            <a:r>
              <a:t>• Dynamic 'what-if' scenarios</a:t>
            </a:r>
          </a:p>
          <a:p>
            <a:pPr>
              <a:spcBef>
                <a:spcPts val="800"/>
              </a:spcBef>
              <a:defRPr sz="1600"/>
            </a:pPr>
            <a:r>
              <a:t>• Proven results: 129% ROI, $6.5M savings</a:t>
            </a:r>
          </a:p>
          <a:p>
            <a:pPr>
              <a:spcBef>
                <a:spcPts val="800"/>
              </a:spcBef>
              <a:defRPr sz="1600"/>
            </a:pPr>
            <a:r>
              <a:t>• ROI: 90% time savings = $400K/year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POC 3: Real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Sample Analysis: Large Enterprise Migration</a:t>
            </a:r>
          </a:p>
          <a:p>
            <a:pPr>
              <a:spcBef>
                <a:spcPts val="1000"/>
              </a:spcBef>
              <a:defRPr sz="1800"/>
            </a:pPr>
            <a:r>
              <a:t>3-Year Migration Cost: $43.2M → $38.4M (11% reduction)</a:t>
            </a:r>
          </a:p>
          <a:p>
            <a:pPr>
              <a:spcBef>
                <a:spcPts val="1000"/>
              </a:spcBef>
              <a:defRPr sz="1800"/>
            </a:pPr>
            <a:r>
              <a:t>Annual Operational Savings: $6.5M (24% improvement)</a:t>
            </a:r>
          </a:p>
          <a:p>
            <a:pPr>
              <a:spcBef>
                <a:spcPts val="1000"/>
              </a:spcBef>
              <a:defRPr sz="1800"/>
            </a:pPr>
            <a:r>
              <a:t>ROI: 129% over 3 years</a:t>
            </a:r>
          </a:p>
          <a:p>
            <a:pPr>
              <a:spcBef>
                <a:spcPts val="1000"/>
              </a:spcBef>
              <a:defRPr sz="1800"/>
            </a:pPr>
            <a:r>
              <a:t>Break-even: 1.2 years</a:t>
            </a:r>
          </a:p>
          <a:p>
            <a:pPr>
              <a:spcBef>
                <a:spcPts val="1000"/>
              </a:spcBef>
              <a:defRPr sz="1800"/>
            </a:pPr>
            <a:r>
              <a:t>Carbon Reduction: 28% (2,184 tonnes CO₂ saved)</a:t>
            </a:r>
          </a:p>
          <a:p>
            <a:pPr>
              <a:spcBef>
                <a:spcPts val="1000"/>
              </a:spcBef>
              <a:defRPr sz="1800"/>
            </a:pPr>
            <a:r>
              <a:t>Competitive Edge: Sustainability + Cost Leadership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POC 4: Competitive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🎯 Business Challenge</a:t>
            </a:r>
          </a:p>
          <a:p>
            <a:pPr>
              <a:spcBef>
                <a:spcPts val="800"/>
              </a:spcBef>
              <a:defRPr sz="1600"/>
            </a:pPr>
            <a:r>
              <a:t>• Competitive intel is outdated</a:t>
            </a:r>
          </a:p>
          <a:p>
            <a:pPr>
              <a:spcBef>
                <a:spcPts val="800"/>
              </a:spcBef>
              <a:defRPr sz="1600"/>
            </a:pPr>
            <a:r>
              <a:t>• Battle cards are generic</a:t>
            </a:r>
          </a:p>
          <a:p>
            <a:pPr>
              <a:spcBef>
                <a:spcPts val="800"/>
              </a:spcBef>
              <a:defRPr sz="1600"/>
            </a:pPr>
            <a:r>
              <a:t>• Sales unprepared for objections</a:t>
            </a:r>
          </a:p>
          <a:p>
            <a:pPr>
              <a:spcBef>
                <a:spcPts val="800"/>
              </a:spcBef>
              <a:defRPr sz="1600"/>
            </a:pPr>
            <a:r>
              <a:t>• Lose to competitors on FUD</a:t>
            </a:r>
          </a:p>
          <a:p>
            <a:pPr>
              <a:spcBef>
                <a:spcPts val="800"/>
              </a:spcBef>
              <a:defRPr sz="1600"/>
            </a:pPr>
            <a:r>
              <a:t>• No win/loss analysis</a:t>
            </a:r>
          </a:p>
          <a:p>
            <a:pPr>
              <a:spcBef>
                <a:spcPts val="800"/>
              </a:spcBef>
              <a:defRPr sz="1600"/>
            </a:pPr>
            <a:r>
              <a:t>• Cost: 30-40% loss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✅ AI Solution &amp; Outcomes</a:t>
            </a:r>
          </a:p>
          <a:p>
            <a:pPr>
              <a:spcBef>
                <a:spcPts val="800"/>
              </a:spcBef>
              <a:defRPr sz="1600"/>
            </a:pPr>
            <a:r>
              <a:t>• Real-time competitor analysis</a:t>
            </a:r>
          </a:p>
          <a:p>
            <a:pPr>
              <a:spcBef>
                <a:spcPts val="800"/>
              </a:spcBef>
              <a:defRPr sz="1600"/>
            </a:pPr>
            <a:r>
              <a:t>• Auto-generated battle cards</a:t>
            </a:r>
          </a:p>
          <a:p>
            <a:pPr>
              <a:spcBef>
                <a:spcPts val="800"/>
              </a:spcBef>
              <a:defRPr sz="1600"/>
            </a:pPr>
            <a:r>
              <a:t>• Use-case specific strategies</a:t>
            </a:r>
          </a:p>
          <a:p>
            <a:pPr>
              <a:spcBef>
                <a:spcPts val="800"/>
              </a:spcBef>
              <a:defRPr sz="1600"/>
            </a:pPr>
            <a:r>
              <a:t>• AI-powered talk tracks</a:t>
            </a:r>
          </a:p>
          <a:p>
            <a:pPr>
              <a:spcBef>
                <a:spcPts val="800"/>
              </a:spcBef>
              <a:defRPr sz="1600"/>
            </a:pPr>
            <a:r>
              <a:t>• Win/loss pattern analysis</a:t>
            </a:r>
          </a:p>
          <a:p>
            <a:pPr>
              <a:spcBef>
                <a:spcPts val="800"/>
              </a:spcBef>
              <a:defRPr sz="1600"/>
            </a:pPr>
            <a:r>
              <a:t>• ROI: 15% win rate improvement = $3M/year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POC 4: Battle Card Example (VMware)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Competitor Profile: VMware - Enterprise trust, cloud-native lag</a:t>
            </a:r>
          </a:p>
          <a:p>
            <a:pPr>
              <a:spcBef>
                <a:spcPts val="1000"/>
              </a:spcBef>
              <a:defRPr sz="1800"/>
            </a:pPr>
            <a:r>
              <a:t>Key Weaknesses: 45% price increase post-Broadcom, complex licensing</a:t>
            </a:r>
          </a:p>
          <a:p>
            <a:pPr>
              <a:spcBef>
                <a:spcPts val="1000"/>
              </a:spcBef>
              <a:defRPr sz="1800"/>
            </a:pPr>
            <a:r>
              <a:t>Our Advantage: $200K 3-year savings, modern cloud-native architecture</a:t>
            </a:r>
          </a:p>
          <a:p>
            <a:pPr>
              <a:spcBef>
                <a:spcPts val="1000"/>
              </a:spcBef>
              <a:defRPr sz="1800"/>
            </a:pPr>
            <a:r>
              <a:t>Counter-Strategy: Lead with TCO, demo Kubernetes simplicity</a:t>
            </a:r>
          </a:p>
          <a:p>
            <a:pPr>
              <a:spcBef>
                <a:spcPts val="1000"/>
              </a:spcBef>
              <a:defRPr sz="1800"/>
            </a:pPr>
            <a:r>
              <a:t>Talk Track: 'Many customers choosing us over VMware save 40-60% while gaining modern cloud capabilities'</a:t>
            </a:r>
          </a:p>
          <a:p>
            <a:pPr>
              <a:spcBef>
                <a:spcPts val="1000"/>
              </a:spcBef>
              <a:defRPr sz="1800"/>
            </a:pPr>
            <a:r>
              <a:t>Demo Counterpoint: Live K8s deployment vs. Tanzu complexity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Combined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💰 Total Cost Savings: $1.65M annually across all 4 POCs</a:t>
            </a:r>
          </a:p>
          <a:p>
            <a:pPr>
              <a:spcBef>
                <a:spcPts val="1000"/>
              </a:spcBef>
              <a:defRPr sz="1800"/>
            </a:pPr>
            <a:r>
              <a:t>⏱️ Time Savings: 85% average reduction in manual work</a:t>
            </a:r>
          </a:p>
          <a:p>
            <a:pPr>
              <a:spcBef>
                <a:spcPts val="1000"/>
              </a:spcBef>
              <a:defRPr sz="1800"/>
            </a:pPr>
            <a:r>
              <a:t>📈 Revenue Impact: 15% win rate improvement = $3M+ annually</a:t>
            </a:r>
          </a:p>
          <a:p>
            <a:pPr>
              <a:spcBef>
                <a:spcPts val="1000"/>
              </a:spcBef>
              <a:defRPr sz="1800"/>
            </a:pPr>
            <a:r>
              <a:t>🎯 Sales Cycle: 30% reduction (from weeks to days)</a:t>
            </a:r>
          </a:p>
          <a:p>
            <a:pPr>
              <a:spcBef>
                <a:spcPts val="1000"/>
              </a:spcBef>
              <a:defRPr sz="1800"/>
            </a:pPr>
            <a:r>
              <a:t>✅ Compliance: 99% accuracy vs. 75% manual</a:t>
            </a:r>
          </a:p>
          <a:p>
            <a:pPr>
              <a:spcBef>
                <a:spcPts val="1000"/>
              </a:spcBef>
              <a:defRPr sz="1800"/>
            </a:pPr>
            <a:r>
              <a:t>🌱 Sustainability: Carbon tracking enables green selling</a:t>
            </a:r>
          </a:p>
          <a:p>
            <a:pPr>
              <a:spcBef>
                <a:spcPts val="1000"/>
              </a:spcBef>
              <a:defRPr sz="1800"/>
            </a:pPr>
            <a:r>
              <a:t>Total ROI: $4.65M annual value creation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🤖 AI/ML Components</a:t>
            </a:r>
          </a:p>
          <a:p>
            <a:pPr>
              <a:spcBef>
                <a:spcPts val="800"/>
              </a:spcBef>
              <a:defRPr sz="1600"/>
            </a:pPr>
            <a:r>
              <a:t>• OpenAI GPT-4 for reasoning</a:t>
            </a:r>
          </a:p>
          <a:p>
            <a:pPr>
              <a:spcBef>
                <a:spcPts val="800"/>
              </a:spcBef>
              <a:defRPr sz="1600"/>
            </a:pPr>
            <a:r>
              <a:t>• LangChain for agent orchestration</a:t>
            </a:r>
          </a:p>
          <a:p>
            <a:pPr>
              <a:spcBef>
                <a:spcPts val="800"/>
              </a:spcBef>
              <a:defRPr sz="1600"/>
            </a:pPr>
            <a:r>
              <a:t>• CrewAI for multi-agent systems</a:t>
            </a:r>
          </a:p>
          <a:p>
            <a:pPr>
              <a:spcBef>
                <a:spcPts val="800"/>
              </a:spcBef>
              <a:defRPr sz="1600"/>
            </a:pPr>
            <a:r>
              <a:t>• Vector DB for knowledge base</a:t>
            </a:r>
          </a:p>
          <a:p>
            <a:pPr>
              <a:spcBef>
                <a:spcPts val="800"/>
              </a:spcBef>
              <a:defRPr sz="1600"/>
            </a:pPr>
            <a:r>
              <a:t>• NLP for document analysis</a:t>
            </a:r>
          </a:p>
          <a:p>
            <a:pPr>
              <a:spcBef>
                <a:spcPts val="800"/>
              </a:spcBef>
              <a:defRPr sz="1600"/>
            </a:pPr>
            <a:r>
              <a:t>• ML for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⚙️ Infrastructure &amp; Tools</a:t>
            </a:r>
          </a:p>
          <a:p>
            <a:pPr>
              <a:spcBef>
                <a:spcPts val="800"/>
              </a:spcBef>
              <a:defRPr sz="1600"/>
            </a:pPr>
            <a:r>
              <a:t>• Python 3.13 runtime</a:t>
            </a:r>
          </a:p>
          <a:p>
            <a:pPr>
              <a:spcBef>
                <a:spcPts val="800"/>
              </a:spcBef>
              <a:defRPr sz="1600"/>
            </a:pPr>
            <a:r>
              <a:t>• Async/await for performance</a:t>
            </a:r>
          </a:p>
          <a:p>
            <a:pPr>
              <a:spcBef>
                <a:spcPts val="800"/>
              </a:spcBef>
              <a:defRPr sz="1600"/>
            </a:pPr>
            <a:r>
              <a:t>• Cloud SDKs (AWS, Azure, GCP)</a:t>
            </a:r>
          </a:p>
          <a:p>
            <a:pPr>
              <a:spcBef>
                <a:spcPts val="800"/>
              </a:spcBef>
              <a:defRPr sz="1600"/>
            </a:pPr>
            <a:r>
              <a:t>• Plotly for visualizations</a:t>
            </a:r>
          </a:p>
          <a:p>
            <a:pPr>
              <a:spcBef>
                <a:spcPts val="800"/>
              </a:spcBef>
              <a:defRPr sz="1600"/>
            </a:pPr>
            <a:r>
              <a:t>• YAML/JSON data formats</a:t>
            </a:r>
          </a:p>
          <a:p>
            <a:pPr>
              <a:spcBef>
                <a:spcPts val="800"/>
              </a:spcBef>
              <a:defRPr sz="1600"/>
            </a:pPr>
            <a:r>
              <a:t>• Docker/K8s for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Implementation Roadmap (90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Phase 1 (Days 1-30): POC1 - Infrastructure Design Agent</a:t>
            </a:r>
          </a:p>
          <a:p>
            <a:pPr>
              <a:spcBef>
                <a:spcPts val="1000"/>
              </a:spcBef>
              <a:defRPr sz="1800"/>
            </a:pPr>
            <a:r>
              <a:t>  • Integrate with existing requirement templates</a:t>
            </a:r>
          </a:p>
          <a:p>
            <a:pPr>
              <a:spcBef>
                <a:spcPts val="1000"/>
              </a:spcBef>
              <a:defRPr sz="1800"/>
            </a:pPr>
            <a:r>
              <a:t>  • Train on company-specific architectures</a:t>
            </a:r>
          </a:p>
          <a:p>
            <a:pPr>
              <a:spcBef>
                <a:spcPts val="1000"/>
              </a:spcBef>
              <a:defRPr sz="1800"/>
            </a:pPr>
            <a:r>
              <a:t>  • Pilot with 3 presales engineers</a:t>
            </a:r>
          </a:p>
          <a:p>
            <a:pPr>
              <a:spcBef>
                <a:spcPts val="1000"/>
              </a:spcBef>
              <a:defRPr sz="1800"/>
            </a:pPr>
            <a:r>
              <a:t>Phase 2 (Days 31-60): POC2 &amp; POC3 - Demo + TCO Agents</a:t>
            </a:r>
          </a:p>
          <a:p>
            <a:pPr>
              <a:spcBef>
                <a:spcPts val="1000"/>
              </a:spcBef>
              <a:defRPr sz="1800"/>
            </a:pPr>
            <a:r>
              <a:t>  • Build demo scenario library</a:t>
            </a:r>
          </a:p>
          <a:p>
            <a:pPr>
              <a:spcBef>
                <a:spcPts val="1000"/>
              </a:spcBef>
              <a:defRPr sz="1800"/>
            </a:pPr>
            <a:r>
              <a:t>  • Configure cost models and benchmarks</a:t>
            </a:r>
          </a:p>
          <a:p>
            <a:pPr>
              <a:spcBef>
                <a:spcPts val="1000"/>
              </a:spcBef>
              <a:defRPr sz="1800"/>
            </a:pPr>
            <a:r>
              <a:t>  • Expand to 10 presales engineers</a:t>
            </a:r>
          </a:p>
          <a:p>
            <a:pPr>
              <a:spcBef>
                <a:spcPts val="1000"/>
              </a:spcBef>
              <a:defRPr sz="1800"/>
            </a:pPr>
            <a:r>
              <a:t>Phase 3 (Days 61-90): POC4 - Competitive Intelligence</a:t>
            </a:r>
          </a:p>
          <a:p>
            <a:pPr>
              <a:spcBef>
                <a:spcPts val="1000"/>
              </a:spcBef>
              <a:defRPr sz="1800"/>
            </a:pPr>
            <a:r>
              <a:t>  • Load competitor database</a:t>
            </a:r>
          </a:p>
          <a:p>
            <a:pPr>
              <a:spcBef>
                <a:spcPts val="1000"/>
              </a:spcBef>
              <a:defRPr sz="1800"/>
            </a:pPr>
            <a:r>
              <a:t>  • Integrate win/loss CRM data</a:t>
            </a:r>
          </a:p>
          <a:p>
            <a:pPr>
              <a:spcBef>
                <a:spcPts val="1000"/>
              </a:spcBef>
              <a:defRPr sz="1800"/>
            </a:pPr>
            <a:r>
              <a:t>  • Full team rollout + 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How We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⏱️ Time Metrics: Design time, demo prep time, TCO analysis time</a:t>
            </a:r>
          </a:p>
          <a:p>
            <a:pPr>
              <a:spcBef>
                <a:spcPts val="1000"/>
              </a:spcBef>
              <a:defRPr sz="1800"/>
            </a:pPr>
            <a:r>
              <a:t>💰 Cost Metrics: Presales cost per deal, total labor savings</a:t>
            </a:r>
          </a:p>
          <a:p>
            <a:pPr>
              <a:spcBef>
                <a:spcPts val="1000"/>
              </a:spcBef>
              <a:defRPr sz="1800"/>
            </a:pPr>
            <a:r>
              <a:t>📈 Revenue Metrics: Win rate %, deal velocity, pipeline conversion</a:t>
            </a:r>
          </a:p>
          <a:p>
            <a:pPr>
              <a:spcBef>
                <a:spcPts val="1000"/>
              </a:spcBef>
              <a:defRPr sz="1800"/>
            </a:pPr>
            <a:r>
              <a:t>✅ Quality Metrics: Compliance accuracy, design quality scores</a:t>
            </a:r>
          </a:p>
          <a:p>
            <a:pPr>
              <a:spcBef>
                <a:spcPts val="1000"/>
              </a:spcBef>
              <a:defRPr sz="1800"/>
            </a:pPr>
            <a:r>
              <a:t>👥 Adoption Metrics: User engagement, agent usage rates</a:t>
            </a:r>
          </a:p>
          <a:p>
            <a:pPr>
              <a:spcBef>
                <a:spcPts val="1000"/>
              </a:spcBef>
              <a:defRPr sz="1800"/>
            </a:pPr>
            <a:r>
              <a:t>😊 Satisfaction: Sales feedback, customer demo ratings</a:t>
            </a:r>
          </a:p>
          <a:p>
            <a:pPr>
              <a:spcBef>
                <a:spcPts val="1000"/>
              </a:spcBef>
              <a:defRPr sz="1800"/>
            </a:pPr>
            <a:r>
              <a:t>Target: 80% time savings, 15% win rate lift, 30% faster cycles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Why This Wins in the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🚀 Speed: Minutes vs. weeks for presales deliverables</a:t>
            </a:r>
          </a:p>
          <a:p>
            <a:pPr>
              <a:spcBef>
                <a:spcPts val="1000"/>
              </a:spcBef>
              <a:defRPr sz="1800"/>
            </a:pPr>
            <a:r>
              <a:t>🎯 Precision: AI-driven accuracy in design and analysis</a:t>
            </a:r>
          </a:p>
          <a:p>
            <a:pPr>
              <a:spcBef>
                <a:spcPts val="1000"/>
              </a:spcBef>
              <a:defRPr sz="1800"/>
            </a:pPr>
            <a:r>
              <a:t>💡 Intelligence: Real-time competitive insights, not stale data</a:t>
            </a:r>
          </a:p>
          <a:p>
            <a:pPr>
              <a:spcBef>
                <a:spcPts val="1000"/>
              </a:spcBef>
              <a:defRPr sz="1800"/>
            </a:pPr>
            <a:r>
              <a:t>🌐 Scale: Same quality across all team members and deals</a:t>
            </a:r>
          </a:p>
          <a:p>
            <a:pPr>
              <a:spcBef>
                <a:spcPts val="1000"/>
              </a:spcBef>
              <a:defRPr sz="1800"/>
            </a:pPr>
            <a:r>
              <a:t>📊 Data-Driven: Continuous improvement from win/loss patterns</a:t>
            </a:r>
          </a:p>
          <a:p>
            <a:pPr>
              <a:spcBef>
                <a:spcPts val="1000"/>
              </a:spcBef>
              <a:defRPr sz="1800"/>
            </a:pPr>
            <a:r>
              <a:t>♻️ Sustainability: Built-in carbon analysis for ESG compliance</a:t>
            </a:r>
          </a:p>
          <a:p>
            <a:pPr>
              <a:spcBef>
                <a:spcPts val="1000"/>
              </a:spcBef>
              <a:defRPr sz="1800"/>
            </a:pPr>
            <a:r>
              <a:t>Result: Presales becomes a competitive weapon, not a cost center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⚠️ Potential Risks</a:t>
            </a:r>
          </a:p>
          <a:p>
            <a:pPr>
              <a:spcBef>
                <a:spcPts val="800"/>
              </a:spcBef>
              <a:defRPr sz="1600"/>
            </a:pPr>
            <a:r>
              <a:t>• AI hallucinations in design</a:t>
            </a:r>
          </a:p>
          <a:p>
            <a:pPr>
              <a:spcBef>
                <a:spcPts val="800"/>
              </a:spcBef>
              <a:defRPr sz="1600"/>
            </a:pPr>
            <a:r>
              <a:t>• Data security concerns</a:t>
            </a:r>
          </a:p>
          <a:p>
            <a:pPr>
              <a:spcBef>
                <a:spcPts val="800"/>
              </a:spcBef>
              <a:defRPr sz="1600"/>
            </a:pPr>
            <a:r>
              <a:t>• User adoption resistance</a:t>
            </a:r>
          </a:p>
          <a:p>
            <a:pPr>
              <a:spcBef>
                <a:spcPts val="800"/>
              </a:spcBef>
              <a:defRPr sz="1600"/>
            </a:pPr>
            <a:r>
              <a:t>• Integration complexity</a:t>
            </a:r>
          </a:p>
          <a:p>
            <a:pPr>
              <a:spcBef>
                <a:spcPts val="800"/>
              </a:spcBef>
              <a:defRPr sz="1600"/>
            </a:pPr>
            <a:r>
              <a:t>• Initial training time</a:t>
            </a:r>
          </a:p>
          <a:p>
            <a:pPr>
              <a:spcBef>
                <a:spcPts val="800"/>
              </a:spcBef>
              <a:defRPr sz="1600"/>
            </a:pPr>
            <a:r>
              <a:t>• Cost of AI API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🛡️ Mitigation Strategies</a:t>
            </a:r>
          </a:p>
          <a:p>
            <a:pPr>
              <a:spcBef>
                <a:spcPts val="800"/>
              </a:spcBef>
              <a:defRPr sz="1600"/>
            </a:pPr>
            <a:r>
              <a:t>• Human review gates + validation</a:t>
            </a:r>
          </a:p>
          <a:p>
            <a:pPr>
              <a:spcBef>
                <a:spcPts val="800"/>
              </a:spcBef>
              <a:defRPr sz="1600"/>
            </a:pPr>
            <a:r>
              <a:t>• On-prem LLM option available</a:t>
            </a:r>
          </a:p>
          <a:p>
            <a:pPr>
              <a:spcBef>
                <a:spcPts val="800"/>
              </a:spcBef>
              <a:defRPr sz="1600"/>
            </a:pPr>
            <a:r>
              <a:t>• Change management program</a:t>
            </a:r>
          </a:p>
          <a:p>
            <a:pPr>
              <a:spcBef>
                <a:spcPts val="800"/>
              </a:spcBef>
              <a:defRPr sz="1600"/>
            </a:pPr>
            <a:r>
              <a:t>• API-first architecture</a:t>
            </a:r>
          </a:p>
          <a:p>
            <a:pPr>
              <a:spcBef>
                <a:spcPts val="800"/>
              </a:spcBef>
              <a:defRPr sz="1600"/>
            </a:pPr>
            <a:r>
              <a:t>• Comprehensive training + support</a:t>
            </a:r>
          </a:p>
          <a:p>
            <a:pPr>
              <a:spcBef>
                <a:spcPts val="800"/>
              </a:spcBef>
              <a:defRPr sz="1600"/>
            </a:pPr>
            <a:r>
              <a:t>• Cost optimization + caching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1️⃣ Executive Alignment: Secure sponsorship from Sales &amp; Engineering</a:t>
            </a:r>
          </a:p>
          <a:p>
            <a:pPr>
              <a:spcBef>
                <a:spcPts val="1000"/>
              </a:spcBef>
              <a:defRPr sz="1800"/>
            </a:pPr>
            <a:r>
              <a:t>2️⃣ Pilot Program: Select 3-5 presales engineers for 30-day trial</a:t>
            </a:r>
          </a:p>
          <a:p>
            <a:pPr>
              <a:spcBef>
                <a:spcPts val="1000"/>
              </a:spcBef>
              <a:defRPr sz="1800"/>
            </a:pPr>
            <a:r>
              <a:t>3️⃣ Data Preparation: Gather templates, scenarios, competitor intel</a:t>
            </a:r>
          </a:p>
          <a:p>
            <a:pPr>
              <a:spcBef>
                <a:spcPts val="1000"/>
              </a:spcBef>
              <a:defRPr sz="1800"/>
            </a:pPr>
            <a:r>
              <a:t>4️⃣ Infrastructure Setup: Deploy agents in secure environment</a:t>
            </a:r>
          </a:p>
          <a:p>
            <a:pPr>
              <a:spcBef>
                <a:spcPts val="1000"/>
              </a:spcBef>
              <a:defRPr sz="1800"/>
            </a:pPr>
            <a:r>
              <a:t>5️⃣ Training &amp; Onboarding: 2-day workshop for pilot team</a:t>
            </a:r>
          </a:p>
          <a:p>
            <a:pPr>
              <a:spcBef>
                <a:spcPts val="1000"/>
              </a:spcBef>
              <a:defRPr sz="1800"/>
            </a:pPr>
            <a:r>
              <a:t>6️⃣ Measurement: Establish baseline metrics before launch</a:t>
            </a:r>
          </a:p>
          <a:p>
            <a:pPr>
              <a:spcBef>
                <a:spcPts val="1000"/>
              </a:spcBef>
              <a:defRPr sz="1800"/>
            </a:pPr>
            <a:r>
              <a:t>7️⃣ Iterate &amp; Scale: Refine based on feedback, expand to full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&amp; ROI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600"/>
                </a:solidFill>
              </a:defRPr>
            </a:pPr>
            <a:r>
              <a:t>💵 Investment Required</a:t>
            </a:r>
          </a:p>
          <a:p>
            <a:pPr>
              <a:spcBef>
                <a:spcPts val="800"/>
              </a:spcBef>
              <a:defRPr sz="1600"/>
            </a:pPr>
            <a:r>
              <a:t>• Development: $120K (3 months)</a:t>
            </a:r>
          </a:p>
          <a:p>
            <a:pPr>
              <a:spcBef>
                <a:spcPts val="800"/>
              </a:spcBef>
              <a:defRPr sz="1600"/>
            </a:pPr>
            <a:r>
              <a:t>• AI API costs: $2K/month</a:t>
            </a:r>
          </a:p>
          <a:p>
            <a:pPr>
              <a:spcBef>
                <a:spcPts val="800"/>
              </a:spcBef>
              <a:defRPr sz="1600"/>
            </a:pPr>
            <a:r>
              <a:t>• Infrastructure: $5K/month</a:t>
            </a:r>
          </a:p>
          <a:p>
            <a:pPr>
              <a:spcBef>
                <a:spcPts val="800"/>
              </a:spcBef>
              <a:defRPr sz="1600"/>
            </a:pPr>
            <a:r>
              <a:t>• Training: $20K one-time</a:t>
            </a:r>
          </a:p>
          <a:p>
            <a:pPr>
              <a:spcBef>
                <a:spcPts val="800"/>
              </a:spcBef>
              <a:defRPr sz="1600"/>
            </a:pPr>
            <a:r>
              <a:t>• Support: $30K/year</a:t>
            </a:r>
          </a:p>
          <a:p>
            <a:pPr>
              <a:spcBef>
                <a:spcPts val="800"/>
              </a:spcBef>
              <a:defRPr sz="1600"/>
            </a:pPr>
            <a:r>
              <a:t>• Total Year 1: $251K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994C"/>
                </a:solidFill>
              </a:defRPr>
            </a:pPr>
            <a:r>
              <a:t>💰 Expected Returns</a:t>
            </a:r>
          </a:p>
          <a:p>
            <a:pPr>
              <a:spcBef>
                <a:spcPts val="800"/>
              </a:spcBef>
              <a:defRPr sz="1600"/>
            </a:pPr>
            <a:r>
              <a:t>• Labor savings: $1.65M/year</a:t>
            </a:r>
          </a:p>
          <a:p>
            <a:pPr>
              <a:spcBef>
                <a:spcPts val="800"/>
              </a:spcBef>
              <a:defRPr sz="1600"/>
            </a:pPr>
            <a:r>
              <a:t>• Revenue uplift: $3M/year</a:t>
            </a:r>
          </a:p>
          <a:p>
            <a:pPr>
              <a:spcBef>
                <a:spcPts val="800"/>
              </a:spcBef>
              <a:defRPr sz="1600"/>
            </a:pPr>
            <a:r>
              <a:t>• Efficiency gains: $500K/year</a:t>
            </a:r>
          </a:p>
          <a:p>
            <a:pPr>
              <a:spcBef>
                <a:spcPts val="800"/>
              </a:spcBef>
              <a:defRPr sz="1600"/>
            </a:pPr>
            <a:r>
              <a:t>• Total Value: $5.15M/year</a:t>
            </a:r>
          </a:p>
          <a:p>
            <a:pPr>
              <a:spcBef>
                <a:spcPts val="800"/>
              </a:spcBef>
              <a:defRPr sz="1600"/>
            </a:pPr>
            <a:r>
              <a:t>• Payback: 2 months</a:t>
            </a:r>
          </a:p>
          <a:p>
            <a:pPr>
              <a:spcBef>
                <a:spcPts val="800"/>
              </a:spcBef>
              <a:defRPr sz="1600"/>
            </a:pPr>
            <a:r>
              <a:t>• 3-Year ROI: 6,050%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Let's Transform Presales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Contact: Your Presales Innovation Team</a:t>
            </a:r>
          </a:p>
          <a:p>
            <a:r>
              <a:t>Demo Available: Schedule hands-on walkthrough</a:t>
            </a:r>
          </a:p>
          <a:p>
            <a:r>
              <a:t>Pilot Program: Starting Q1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